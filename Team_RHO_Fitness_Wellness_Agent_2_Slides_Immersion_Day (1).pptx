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11480"/>
            <a:ext cx="594360" cy="64008"/>
          </a:xfrm>
          <a:prstGeom prst="rect">
            <a:avLst/>
          </a:prstGeom>
          <a:solidFill>
            <a:srgbClr val="22A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411480"/>
            <a:ext cx="594360" cy="64008"/>
          </a:xfrm>
          <a:prstGeom prst="rect">
            <a:avLst/>
          </a:prstGeom>
          <a:solidFill>
            <a:srgbClr val="E85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A30"/>
                </a:solidFill>
                <a:latin typeface="Aptos"/>
              </a:rPr>
              <a:t>Selected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70AD"/>
                </a:solidFill>
                <a:latin typeface="Aptos"/>
              </a:rPr>
              <a:t>Fitness &amp; Wellness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658368"/>
            <a:ext cx="960120" cy="384048"/>
          </a:xfrm>
          <a:prstGeom prst="roundRect">
            <a:avLst/>
          </a:prstGeom>
          <a:solidFill>
            <a:srgbClr val="0F4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740664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RHO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10972800" cy="1115568"/>
          </a:xfrm>
          <a:prstGeom prst="roundRect">
            <a:avLst/>
          </a:prstGeom>
          <a:solidFill>
            <a:srgbClr val="F6F9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29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487D"/>
                </a:solidFill>
                <a:latin typeface="Aptos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10287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F666C"/>
                </a:solidFill>
                <a:latin typeface="Aptos"/>
              </a:rPr>
              <a:t>An AI-powered personal fitness assistant that uses an agentic workflow to understand a user's profile, goals and context, then provides personalized fitness, nutrition and wellness guidance.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4612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93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626"/>
                </a:solidFill>
                <a:latin typeface="Aptos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66C"/>
                </a:solidFill>
                <a:latin typeface="Aptos"/>
              </a:rPr>
              <a:t>Generic fitness advice does not adapt to the user's goal, fitness level, diet, available time, equipment, location and day-to-day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246120"/>
            <a:ext cx="5577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493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AA80"/>
                </a:solidFill>
                <a:latin typeface="Aptos"/>
              </a:rPr>
              <a:t>Our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88620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66C"/>
                </a:solidFill>
                <a:latin typeface="Aptos"/>
              </a:rPr>
              <a:t>Build an agent that understands intent, selects the right tool, combines tool output with user context and generates an actionable personalized recommendation.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389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487D"/>
                </a:solidFill>
                <a:latin typeface="Aptos"/>
              </a:rPr>
              <a:t>Agentic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504688"/>
            <a:ext cx="1874519" cy="868680"/>
          </a:xfrm>
          <a:prstGeom prst="roundRect">
            <a:avLst/>
          </a:prstGeom>
          <a:solidFill>
            <a:srgbClr val="F6F9FA"/>
          </a:solidFill>
          <a:ln>
            <a:solidFill>
              <a:srgbClr val="D2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6235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F487D"/>
                </a:solidFill>
                <a:latin typeface="Aptos"/>
              </a:rPr>
              <a:t>User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795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30" b="0">
                <a:solidFill>
                  <a:srgbClr val="5F666C"/>
                </a:solidFill>
                <a:latin typeface="Aptos"/>
              </a:rPr>
              <a:t>Goal • diet • fitness
level • time • location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68879" y="5925312"/>
            <a:ext cx="365761" cy="0"/>
          </a:xfrm>
          <a:prstGeom prst="line">
            <a:avLst/>
          </a:prstGeom>
          <a:ln w="16510">
            <a:solidFill>
              <a:srgbClr val="A0A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34640" y="5504688"/>
            <a:ext cx="1874519" cy="868680"/>
          </a:xfrm>
          <a:prstGeom prst="roundRect">
            <a:avLst/>
          </a:prstGeom>
          <a:solidFill>
            <a:srgbClr val="F6F9FA"/>
          </a:solidFill>
          <a:ln>
            <a:solidFill>
              <a:srgbClr val="D2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4368" y="56235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F487D"/>
                </a:solidFill>
                <a:latin typeface="Aptos"/>
              </a:rPr>
              <a:t>Intent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8795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30" b="0">
                <a:solidFill>
                  <a:srgbClr val="5F666C"/>
                </a:solidFill>
                <a:latin typeface="Aptos"/>
              </a:rPr>
              <a:t>Workout • nutrition
facility • progress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09160" y="5925312"/>
            <a:ext cx="365760" cy="0"/>
          </a:xfrm>
          <a:prstGeom prst="line">
            <a:avLst/>
          </a:prstGeom>
          <a:ln w="16510">
            <a:solidFill>
              <a:srgbClr val="A0A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74920" y="5504688"/>
            <a:ext cx="1874519" cy="868680"/>
          </a:xfrm>
          <a:prstGeom prst="roundRect">
            <a:avLst/>
          </a:prstGeom>
          <a:solidFill>
            <a:srgbClr val="F6F9FA"/>
          </a:solidFill>
          <a:ln>
            <a:solidFill>
              <a:srgbClr val="D2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4648" y="56235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F487D"/>
                </a:solidFill>
                <a:latin typeface="Aptos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59" y="58795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30" b="0">
                <a:solidFill>
                  <a:srgbClr val="5F666C"/>
                </a:solidFill>
                <a:latin typeface="Aptos"/>
              </a:rPr>
              <a:t>Specialized capability
for each request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49440" y="5925312"/>
            <a:ext cx="365760" cy="0"/>
          </a:xfrm>
          <a:prstGeom prst="line">
            <a:avLst/>
          </a:prstGeom>
          <a:ln w="16510">
            <a:solidFill>
              <a:srgbClr val="A0A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0" y="5504688"/>
            <a:ext cx="1874519" cy="868680"/>
          </a:xfrm>
          <a:prstGeom prst="roundRect">
            <a:avLst/>
          </a:prstGeom>
          <a:solidFill>
            <a:srgbClr val="F6F9FA"/>
          </a:solidFill>
          <a:ln>
            <a:solidFill>
              <a:srgbClr val="D2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24927" y="56235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F487D"/>
                </a:solidFill>
                <a:latin typeface="Aptos"/>
              </a:rPr>
              <a:t>Personalize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8795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30" b="0">
                <a:solidFill>
                  <a:srgbClr val="5F666C"/>
                </a:solidFill>
                <a:latin typeface="Aptos"/>
              </a:rPr>
              <a:t>Profile + tool output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9720" y="5925312"/>
            <a:ext cx="365760" cy="0"/>
          </a:xfrm>
          <a:prstGeom prst="line">
            <a:avLst/>
          </a:prstGeom>
          <a:ln w="16510">
            <a:solidFill>
              <a:srgbClr val="A0A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55480" y="5504688"/>
            <a:ext cx="1874519" cy="868680"/>
          </a:xfrm>
          <a:prstGeom prst="roundRect">
            <a:avLst/>
          </a:prstGeom>
          <a:solidFill>
            <a:srgbClr val="F6F9FA"/>
          </a:solidFill>
          <a:ln>
            <a:solidFill>
              <a:srgbClr val="D2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65207" y="56235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F487D"/>
                </a:solidFill>
                <a:latin typeface="Aptos"/>
              </a:rPr>
              <a:t>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19" y="58795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30" b="0">
                <a:solidFill>
                  <a:srgbClr val="5F666C"/>
                </a:solidFill>
                <a:latin typeface="Aptos"/>
              </a:rPr>
              <a:t>Plan + next 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66C"/>
                </a:solidFill>
                <a:latin typeface="Aptos"/>
              </a:rPr>
              <a:t>IIIT Hyderabad | Agentic AI: From Concepts to Practice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6510528"/>
            <a:ext cx="2423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F666C"/>
                </a:solidFill>
                <a:latin typeface="Aptos"/>
              </a:rPr>
              <a:t>Team RHO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11480"/>
            <a:ext cx="594360" cy="64008"/>
          </a:xfrm>
          <a:prstGeom prst="rect">
            <a:avLst/>
          </a:prstGeom>
          <a:solidFill>
            <a:srgbClr val="22A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411480"/>
            <a:ext cx="594360" cy="64008"/>
          </a:xfrm>
          <a:prstGeom prst="rect">
            <a:avLst/>
          </a:prstGeom>
          <a:solidFill>
            <a:srgbClr val="E85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A30"/>
                </a:solidFill>
                <a:latin typeface="Aptos"/>
              </a:rPr>
              <a:t>Your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70AD"/>
                </a:solidFill>
                <a:latin typeface="Aptos"/>
              </a:rPr>
              <a:t>What we learned while designing the Fitness &amp; Wellness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658368"/>
            <a:ext cx="960120" cy="384048"/>
          </a:xfrm>
          <a:prstGeom prst="roundRect">
            <a:avLst/>
          </a:prstGeom>
          <a:solidFill>
            <a:srgbClr val="0F4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740664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RHO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5257800" cy="1783080"/>
          </a:xfrm>
          <a:prstGeom prst="roundRect">
            <a:avLst/>
          </a:prstGeom>
          <a:solidFill>
            <a:srgbClr val="F6F9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121408"/>
            <a:ext cx="475488" cy="475488"/>
          </a:xfrm>
          <a:prstGeom prst="ellipse">
            <a:avLst/>
          </a:prstGeom>
          <a:solidFill>
            <a:srgbClr val="0F4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31136"/>
            <a:ext cx="4754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30552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487D"/>
                </a:solidFill>
                <a:latin typeface="Aptos"/>
              </a:rPr>
              <a:t>From Chatbot →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697479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66C"/>
                </a:solidFill>
                <a:latin typeface="Aptos"/>
              </a:rPr>
              <a:t>A useful agent needs more than an LLM response. It should understand intent, decide what action is needed and invoke the right capability.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874519"/>
            <a:ext cx="5257800" cy="1783080"/>
          </a:xfrm>
          <a:prstGeom prst="roundRect">
            <a:avLst/>
          </a:prstGeom>
          <a:solidFill>
            <a:srgbClr val="F6F9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475488" cy="475488"/>
          </a:xfrm>
          <a:prstGeom prst="ellipse">
            <a:avLst/>
          </a:prstGeom>
          <a:solidFill>
            <a:srgbClr val="0F4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231136"/>
            <a:ext cx="4754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30552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487D"/>
                </a:solidFill>
                <a:latin typeface="Aptos"/>
              </a:rPr>
              <a:t>Tool Use &amp;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697479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66C"/>
                </a:solidFill>
                <a:latin typeface="Aptos"/>
              </a:rPr>
              <a:t>Different user needs require different tools — workout, nutrition, location and progress tracking. The agent coordinates these capabilities.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069080"/>
            <a:ext cx="5257800" cy="1783080"/>
          </a:xfrm>
          <a:prstGeom prst="roundRect">
            <a:avLst/>
          </a:prstGeom>
          <a:solidFill>
            <a:srgbClr val="F6F9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315968"/>
            <a:ext cx="475488" cy="475488"/>
          </a:xfrm>
          <a:prstGeom prst="ellipse">
            <a:avLst/>
          </a:prstGeom>
          <a:solidFill>
            <a:srgbClr val="0F4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25696"/>
            <a:ext cx="4754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325112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487D"/>
                </a:solidFill>
                <a:latin typeface="Aptos"/>
              </a:rPr>
              <a:t>Context = Personalization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892040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66C"/>
                </a:solidFill>
                <a:latin typeface="Aptos"/>
              </a:rPr>
              <a:t>The same question can produce different recommendations depending on the user's goal, diet, time, fitness level and previous context.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4069080"/>
            <a:ext cx="5257800" cy="1783080"/>
          </a:xfrm>
          <a:prstGeom prst="roundRect">
            <a:avLst/>
          </a:prstGeom>
          <a:solidFill>
            <a:srgbClr val="F6F9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17920" y="4315968"/>
            <a:ext cx="475488" cy="475488"/>
          </a:xfrm>
          <a:prstGeom prst="ellipse">
            <a:avLst/>
          </a:prstGeom>
          <a:solidFill>
            <a:srgbClr val="0F4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425696"/>
            <a:ext cx="4754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325112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487D"/>
                </a:solidFill>
                <a:latin typeface="Aptos"/>
              </a:rPr>
              <a:t>Human-in-the-Loop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4892040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66C"/>
                </a:solidFill>
                <a:latin typeface="Aptos"/>
              </a:rPr>
              <a:t>Fitness guidance should remain assistive. The agent provides recommendations and adapts to feedback rather than replacing professional judgment.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6144768"/>
            <a:ext cx="10972800" cy="411480"/>
          </a:xfrm>
          <a:prstGeom prst="roundRect">
            <a:avLst/>
          </a:prstGeom>
          <a:solidFill>
            <a:srgbClr val="0F4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23620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Key takeaway: Agentic AI is about combining reasoning, tools, context and feedback to complete a task — not simply generating text.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66C"/>
                </a:solidFill>
                <a:latin typeface="Aptos"/>
              </a:rPr>
              <a:t>IIIT Hyderabad | Agentic AI: From Concepts to Practice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510528"/>
            <a:ext cx="2423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F666C"/>
                </a:solidFill>
                <a:latin typeface="Aptos"/>
              </a:rPr>
              <a:t>Team RHO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